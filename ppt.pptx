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309" r:id="rId4"/>
    <p:sldId id="259" r:id="rId5"/>
    <p:sldId id="306" r:id="rId6"/>
    <p:sldId id="307" r:id="rId7"/>
    <p:sldId id="310" r:id="rId8"/>
    <p:sldId id="311" r:id="rId9"/>
    <p:sldId id="287" r:id="rId10"/>
    <p:sldId id="270" r:id="rId11"/>
    <p:sldId id="295" r:id="rId12"/>
    <p:sldId id="304" r:id="rId13"/>
    <p:sldId id="297" r:id="rId14"/>
    <p:sldId id="298" r:id="rId15"/>
    <p:sldId id="314" r:id="rId16"/>
    <p:sldId id="284" r:id="rId17"/>
    <p:sldId id="312" r:id="rId18"/>
    <p:sldId id="301" r:id="rId19"/>
    <p:sldId id="313" r:id="rId20"/>
    <p:sldId id="303" r:id="rId21"/>
    <p:sldId id="293" r:id="rId22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30" autoAdjust="0"/>
    <p:restoredTop sz="54248" autoAdjust="0"/>
  </p:normalViewPr>
  <p:slideViewPr>
    <p:cSldViewPr snapToGrid="0">
      <p:cViewPr varScale="1">
        <p:scale>
          <a:sx n="44" d="100"/>
          <a:sy n="44" d="100"/>
        </p:scale>
        <p:origin x="284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APURAM VIGNESWARA REDDY-[BL.EN.U4CSE22030]" userId="89601c09-34c2-4888-a3f9-a7888ac1dae5" providerId="ADAL" clId="{D02854A5-E756-4352-BA92-FEB77AB4C0FC}"/>
    <pc:docChg chg="custSel modSld">
      <pc:chgData name="KAMALAPURAM VIGNESWARA REDDY-[BL.EN.U4CSE22030]" userId="89601c09-34c2-4888-a3f9-a7888ac1dae5" providerId="ADAL" clId="{D02854A5-E756-4352-BA92-FEB77AB4C0FC}" dt="2025-11-06T04:28:57.921" v="0" actId="478"/>
      <pc:docMkLst>
        <pc:docMk/>
      </pc:docMkLst>
      <pc:sldChg chg="delSp mod delAnim">
        <pc:chgData name="KAMALAPURAM VIGNESWARA REDDY-[BL.EN.U4CSE22030]" userId="89601c09-34c2-4888-a3f9-a7888ac1dae5" providerId="ADAL" clId="{D02854A5-E756-4352-BA92-FEB77AB4C0FC}" dt="2025-11-06T04:28:57.921" v="0" actId="478"/>
        <pc:sldMkLst>
          <pc:docMk/>
          <pc:sldMk cId="760527294" sldId="314"/>
        </pc:sldMkLst>
        <pc:picChg chg="del">
          <ac:chgData name="KAMALAPURAM VIGNESWARA REDDY-[BL.EN.U4CSE22030]" userId="89601c09-34c2-4888-a3f9-a7888ac1dae5" providerId="ADAL" clId="{D02854A5-E756-4352-BA92-FEB77AB4C0FC}" dt="2025-11-06T04:28:57.921" v="0" actId="478"/>
          <ac:picMkLst>
            <pc:docMk/>
            <pc:sldMk cId="760527294" sldId="314"/>
            <ac:picMk id="3" creationId="{6C77B058-FDD8-B015-EB76-9B82116D410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176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063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62000" y="990600"/>
            <a:ext cx="7696200" cy="9144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  <a:r>
              <a:rPr lang="en-US" sz="3200" dirty="0"/>
              <a:t>Scientific Calculator using Lex and </a:t>
            </a:r>
            <a:r>
              <a:rPr lang="en-US" sz="3200" dirty="0" err="1"/>
              <a:t>Yacc</a:t>
            </a:r>
            <a:endParaRPr sz="3600" b="0" dirty="0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pSp>
        <p:nvGrpSpPr>
          <p:cNvPr id="135" name="Group"/>
          <p:cNvGrpSpPr/>
          <p:nvPr/>
        </p:nvGrpSpPr>
        <p:grpSpPr>
          <a:xfrm>
            <a:off x="457200" y="1981200"/>
            <a:ext cx="8097814" cy="3788886"/>
            <a:chOff x="0" y="0"/>
            <a:chExt cx="8097813" cy="3788885"/>
          </a:xfrm>
        </p:grpSpPr>
        <p:sp>
          <p:nvSpPr>
            <p:cNvPr id="133" name="Rectangle"/>
            <p:cNvSpPr/>
            <p:nvPr/>
          </p:nvSpPr>
          <p:spPr>
            <a:xfrm>
              <a:off x="0" y="0"/>
              <a:ext cx="8097814" cy="37888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134" name="Team Members     Group No: 13…"/>
            <p:cNvSpPr txBox="1"/>
            <p:nvPr/>
          </p:nvSpPr>
          <p:spPr>
            <a:xfrm>
              <a:off x="44575" y="0"/>
              <a:ext cx="8008664" cy="35435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dirty="0"/>
                <a:t>Team</a:t>
              </a:r>
              <a:r>
                <a:rPr lang="en-IN" dirty="0"/>
                <a:t>_No</a:t>
              </a:r>
              <a:r>
                <a:rPr lang="en-US" dirty="0"/>
                <a:t>: 22</a:t>
              </a:r>
              <a:r>
                <a:rPr dirty="0"/>
                <a:t>		</a:t>
              </a:r>
              <a:r>
                <a:rPr b="0" dirty="0"/>
                <a:t>		</a:t>
              </a:r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 lang="en-IN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dirty="0"/>
                <a:t>Project  Advisor:  </a:t>
              </a:r>
              <a:endParaRPr lang="en-US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IN" dirty="0"/>
                <a:t>Ms. Kavitha C.R. </a:t>
              </a:r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IN" dirty="0"/>
                <a:t>Asst. Prof.(</a:t>
              </a:r>
              <a:r>
                <a:rPr lang="en-IN" dirty="0" err="1"/>
                <a:t>Sr.Gr</a:t>
              </a:r>
              <a:r>
                <a:rPr lang="en-IN" dirty="0"/>
                <a:t>.)  CSE Dept.</a:t>
              </a:r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 dirty="0"/>
            </a:p>
          </p:txBody>
        </p:sp>
      </p:grp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1766045485"/>
              </p:ext>
            </p:extLst>
          </p:nvPr>
        </p:nvGraphicFramePr>
        <p:xfrm>
          <a:off x="658853" y="2609648"/>
          <a:ext cx="7983372" cy="182602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60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 b="1" dirty="0" err="1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S.No</a:t>
                      </a:r>
                      <a:endParaRPr sz="1500" b="1" dirty="0">
                        <a:latin typeface="+mn-lt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 b="1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Reg.No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 b="1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 b="1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Section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 BL</a:t>
                      </a:r>
                      <a:r>
                        <a:rPr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.EN.U4CSE</a:t>
                      </a:r>
                      <a:r>
                        <a:rPr lang="en-IN"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22004</a:t>
                      </a:r>
                      <a:endParaRPr sz="1500" dirty="0">
                        <a:latin typeface="+mn-lt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5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Adhi </a:t>
                      </a:r>
                      <a:r>
                        <a:rPr lang="en-US" sz="1500" b="0" i="0" u="none" strike="noStrike" cap="none" spc="0" baseline="0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Neeraja</a:t>
                      </a:r>
                      <a:endParaRPr sz="1500" dirty="0">
                        <a:latin typeface="+mn-lt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CSE </a:t>
                      </a:r>
                      <a:r>
                        <a:rPr lang="en-US"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</a:t>
                      </a:r>
                      <a:endParaRPr sz="1500" dirty="0">
                        <a:latin typeface="+mn-lt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</a:t>
                      </a:r>
                      <a:endParaRPr sz="1500" dirty="0">
                        <a:latin typeface="+mn-lt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5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BL.EN.U4CSE22014</a:t>
                      </a:r>
                      <a:endParaRPr sz="1500" dirty="0">
                        <a:latin typeface="+mn-lt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5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Chimakurthy Mounika Begum</a:t>
                      </a:r>
                      <a:endParaRPr sz="1500" dirty="0">
                        <a:latin typeface="+mn-lt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CSE 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3</a:t>
                      </a:r>
                      <a:endParaRPr sz="1500" dirty="0">
                        <a:latin typeface="+mn-lt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BL.EN.U4CSE22030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Kamalapuram</a:t>
                      </a:r>
                      <a:r>
                        <a:rPr lang="en-US" sz="15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Vigneswara</a:t>
                      </a:r>
                      <a:r>
                        <a:rPr lang="en-US" sz="15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Reddy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CSE 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4</a:t>
                      </a:r>
                      <a:endParaRPr sz="1500" dirty="0">
                        <a:latin typeface="+mn-lt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5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BL.EN.U4CSE22050</a:t>
                      </a:r>
                      <a:endParaRPr sz="1500" dirty="0">
                        <a:latin typeface="+mn-lt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Rebbavarapu</a:t>
                      </a:r>
                      <a:r>
                        <a:rPr lang="en-US" sz="15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Henry </a:t>
                      </a:r>
                      <a:r>
                        <a:rPr lang="en-US" sz="15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Koushal</a:t>
                      </a:r>
                      <a:endParaRPr lang="en-US" sz="15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500" dirty="0">
                          <a:latin typeface="+mn-lt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CSE 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570368"/>
                  </a:ext>
                </a:extLst>
              </a:tr>
            </a:tbl>
          </a:graphicData>
        </a:graphic>
      </p:graphicFrame>
      <p:sp>
        <p:nvSpPr>
          <p:cNvPr id="2" name="Rectangle">
            <a:extLst>
              <a:ext uri="{FF2B5EF4-FFF2-40B4-BE49-F238E27FC236}">
                <a16:creationId xmlns:a16="http://schemas.microsoft.com/office/drawing/2014/main" id="{7840AD4D-AC66-9020-8CDF-AF322A6ECCC2}"/>
              </a:ext>
            </a:extLst>
          </p:cNvPr>
          <p:cNvSpPr/>
          <p:nvPr/>
        </p:nvSpPr>
        <p:spPr>
          <a:xfrm>
            <a:off x="1447800" y="4572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IN" dirty="0"/>
              <a:t>	19CSE401 Compiler Design</a:t>
            </a:r>
            <a:endParaRPr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B835FDA-DC81-4F5C-BEDE-40BF7A20AA2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635176" y="421220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Problem</a:t>
            </a:r>
            <a:r>
              <a:rPr lang="en-IN" dirty="0"/>
              <a:t> Definition</a:t>
            </a:r>
            <a:endParaRPr dirty="0"/>
          </a:p>
        </p:txBody>
      </p:sp>
      <p:sp>
        <p:nvSpPr>
          <p:cNvPr id="144" name="Introduction…"/>
          <p:cNvSpPr/>
          <p:nvPr/>
        </p:nvSpPr>
        <p:spPr>
          <a:xfrm>
            <a:off x="635176" y="2304661"/>
            <a:ext cx="7975424" cy="21423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just"/>
            <a:r>
              <a:rPr lang="en-US" sz="2200" dirty="0"/>
              <a:t>Conventional scientific calculators perform direct evaluations using built-in functions and lack compiler-level processing. This project aims to develop a scientific calculator compiler that interprets and evaluates mathematical expressions through Lex (Flex) and </a:t>
            </a:r>
            <a:r>
              <a:rPr lang="en-US" sz="2200" dirty="0" err="1"/>
              <a:t>Yacc</a:t>
            </a:r>
            <a:r>
              <a:rPr lang="en-US" sz="2200" dirty="0"/>
              <a:t> (Bison), applying lexical and syntax analysis to achieve accurate computation and expression parsing.</a:t>
            </a:r>
            <a:endParaRPr sz="2200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E1651-1E35-D036-65AB-DB6AD0CC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87762CEA-13D9-C811-AADD-F269DC4C141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0DBAC3CB-4221-6459-6ABC-21842444AF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176" y="421220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Objectives</a:t>
            </a:r>
            <a:endParaRPr dirty="0"/>
          </a:p>
        </p:txBody>
      </p:sp>
      <p:sp>
        <p:nvSpPr>
          <p:cNvPr id="144" name="Introduction…">
            <a:extLst>
              <a:ext uri="{FF2B5EF4-FFF2-40B4-BE49-F238E27FC236}">
                <a16:creationId xmlns:a16="http://schemas.microsoft.com/office/drawing/2014/main" id="{4838A19D-532D-068F-929E-5327E5432483}"/>
              </a:ext>
            </a:extLst>
          </p:cNvPr>
          <p:cNvSpPr/>
          <p:nvPr/>
        </p:nvSpPr>
        <p:spPr>
          <a:xfrm>
            <a:off x="559837" y="1959427"/>
            <a:ext cx="8050763" cy="37856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To design and implement a scientific calculator that functions as a mini-compiler.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To utilize Lex (Flex) for lexical analysis and </a:t>
            </a:r>
            <a:r>
              <a:rPr lang="en-US" sz="2000" dirty="0" err="1"/>
              <a:t>Yacc</a:t>
            </a:r>
            <a:r>
              <a:rPr lang="en-US" sz="2000" dirty="0"/>
              <a:t> (Bison) for syntax parsing of expressions.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To accurately evaluate arithmetic, trigonometric, logarithmic, and exponential computations.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To develop a Flask-based web interface for seamless user interaction with the calculator.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To ensure efficient error detection and handling during expression evaluation.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To illustrate the practical application of compiler design principles in real-world computation.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41323400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57" name="Motivation"/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</a:t>
            </a:r>
            <a:endParaRPr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B9BEA9-0008-0041-E9D1-A8B251954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658422"/>
              </p:ext>
            </p:extLst>
          </p:nvPr>
        </p:nvGraphicFramePr>
        <p:xfrm>
          <a:off x="811763" y="1231642"/>
          <a:ext cx="7697325" cy="4954554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50506">
                  <a:extLst>
                    <a:ext uri="{9D8B030D-6E8A-4147-A177-3AD203B41FA5}">
                      <a16:colId xmlns:a16="http://schemas.microsoft.com/office/drawing/2014/main" val="3738985348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10353676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70879095"/>
                    </a:ext>
                  </a:extLst>
                </a:gridCol>
                <a:gridCol w="1791478">
                  <a:extLst>
                    <a:ext uri="{9D8B030D-6E8A-4147-A177-3AD203B41FA5}">
                      <a16:colId xmlns:a16="http://schemas.microsoft.com/office/drawing/2014/main" val="3979042068"/>
                    </a:ext>
                  </a:extLst>
                </a:gridCol>
                <a:gridCol w="1716402">
                  <a:extLst>
                    <a:ext uri="{9D8B030D-6E8A-4147-A177-3AD203B41FA5}">
                      <a16:colId xmlns:a16="http://schemas.microsoft.com/office/drawing/2014/main" val="314196244"/>
                    </a:ext>
                  </a:extLst>
                </a:gridCol>
              </a:tblGrid>
              <a:tr h="753734"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title of the paper with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from the paper (based on methodology, technology)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problem (for your proposed work)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7501868"/>
                  </a:ext>
                </a:extLst>
              </a:tr>
              <a:tr h="1121102"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Krishna Vignesh,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Mudumba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Hanumat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Nallapareddy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Vamsidhar Reddy, Sake Mohith Sai, Meena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Belwal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ToY</a:t>
                      </a:r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Language Compiler using Lex and YACC, 2024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Flex, Bison, and Java to build a parser and type-checker for the </a:t>
                      </a:r>
                      <a:r>
                        <a:rPr lang="en-US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ToY</a:t>
                      </a:r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language, ensuring proper syntax and semantic validation.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interactive execution and real-time evaluation; your work adds a GUI-based expression compiler for better user interaction.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329870"/>
                  </a:ext>
                </a:extLst>
              </a:tr>
              <a:tr h="1454741"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Likhith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Arlagadda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Naga,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Kothuru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Gurunadh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Vimal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Chinthapalli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Meena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Belwal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Compiler For Mathematical Operations Using English Like Sentences, 2023</a:t>
                      </a:r>
                    </a:p>
                    <a:p>
                      <a:pPr algn="just"/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Utilizes Lex and YACC to design a compiler that interprets English-like mathematical expressions, converting natural language into executable code for ease of use.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only on language interpretation; your work extends it by supporting complex mathematical operations with a GUI and real-time evaluation interface.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4518209"/>
                  </a:ext>
                </a:extLst>
              </a:tr>
              <a:tr h="1624977"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 Rahul AN Sharma,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Bedadala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Mohaneeswar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Reddy, Dutta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Swetchana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Niharika Panda</a:t>
                      </a:r>
                    </a:p>
                    <a:p>
                      <a:pPr algn="just"/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Compiler Design for recognizing different Programming Languages, 2024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a multi-language recognition compiler using Python-Lex-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Yacc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focusing on lexical and syntax analysis to identify programming languages like C++, Java, and Python.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Concentrates on language detection, not computation; your work focuses on implementing mathematical expression evaluation and syntax parsing for real-time calculations.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687235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58C2-EB92-9608-4FA5-A33FFAAE4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F3781B2F-81F5-CE3B-0786-9E2DF87B45B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C2C1CFA1-0066-FA5F-E2BF-476479B401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</a:t>
            </a:r>
            <a:endParaRPr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6F1917-E65D-6BBB-D2F4-774B46389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60406"/>
              </p:ext>
            </p:extLst>
          </p:nvPr>
        </p:nvGraphicFramePr>
        <p:xfrm>
          <a:off x="811763" y="1231642"/>
          <a:ext cx="7734958" cy="4926562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01968">
                  <a:extLst>
                    <a:ext uri="{9D8B030D-6E8A-4147-A177-3AD203B41FA5}">
                      <a16:colId xmlns:a16="http://schemas.microsoft.com/office/drawing/2014/main" val="3738985348"/>
                    </a:ext>
                  </a:extLst>
                </a:gridCol>
                <a:gridCol w="1896310">
                  <a:extLst>
                    <a:ext uri="{9D8B030D-6E8A-4147-A177-3AD203B41FA5}">
                      <a16:colId xmlns:a16="http://schemas.microsoft.com/office/drawing/2014/main" val="10353676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70879095"/>
                    </a:ext>
                  </a:extLst>
                </a:gridCol>
                <a:gridCol w="1791478">
                  <a:extLst>
                    <a:ext uri="{9D8B030D-6E8A-4147-A177-3AD203B41FA5}">
                      <a16:colId xmlns:a16="http://schemas.microsoft.com/office/drawing/2014/main" val="3979042068"/>
                    </a:ext>
                  </a:extLst>
                </a:gridCol>
                <a:gridCol w="1716402">
                  <a:extLst>
                    <a:ext uri="{9D8B030D-6E8A-4147-A177-3AD203B41FA5}">
                      <a16:colId xmlns:a16="http://schemas.microsoft.com/office/drawing/2014/main" val="314196244"/>
                    </a:ext>
                  </a:extLst>
                </a:gridCol>
              </a:tblGrid>
              <a:tr h="759488"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title of the paper with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from the paper (based on methodology, technology)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problem (for your proposed work)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7501868"/>
                  </a:ext>
                </a:extLst>
              </a:tr>
              <a:tr h="1274576"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Mokshit, P. Syam Prasad, N. Sumanth Reddy, Meena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Belwal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Pseudocode to Python - A Compiler Approach, 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Develops a compiler that converts pseudocode into Python using lexical, syntax, and code generation phases, simplifying programming education and algorithm understanding.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language translation; our work extends compiler utility by directly evaluating expressions and providing a user-friendly computation interface.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329870"/>
                  </a:ext>
                </a:extLst>
              </a:tr>
              <a:tr h="1612415"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Francisco Ortin, Jose Quiroga, Oscar Rodriguez-Prieto, Miguel Garcia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An empirical evaluation of Lex/</a:t>
                      </a:r>
                      <a:r>
                        <a:rPr lang="en-US" sz="1100" b="0" i="0" u="none" strike="noStrike" cap="none" spc="0" baseline="0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Yacc</a:t>
                      </a:r>
                      <a:r>
                        <a:rPr lang="en-US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and ANTLR parser generation tools</a:t>
                      </a:r>
                      <a:r>
                        <a:rPr lang="en-IN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2022</a:t>
                      </a:r>
                      <a:endParaRPr lang="en-US" sz="1100" b="0" i="0" u="none" strike="noStrike" cap="none" spc="0" baseline="0" dirty="0">
                        <a:solidFill>
                          <a:schemeClr val="dk1"/>
                        </a:solidFill>
                        <a:effectLst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Conducts an empirical comparison between Lex/</a:t>
                      </a:r>
                      <a:r>
                        <a:rPr lang="en-US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Yacc</a:t>
                      </a:r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ANTLR based on usability, maintainability, and developer productivity, showing ANTLR’s advantages in educational settings.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tool comparison rather than implementation; our work applies Lex/</a:t>
                      </a:r>
                      <a:r>
                        <a:rPr lang="en-US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Yacc</a:t>
                      </a:r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practically to build a functioning mathematical expression compiler demonstrating real use-case efficiency.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4518209"/>
                  </a:ext>
                </a:extLst>
              </a:tr>
              <a:tr h="1280083"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Sashank Sridhar, Sowmya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Sanagavarapu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 Compiler-based Approach for Natural Language to Code Conversion</a:t>
                      </a:r>
                      <a:r>
                        <a:rPr lang="en-IN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2020</a:t>
                      </a:r>
                      <a:endParaRPr lang="en-US" sz="1100" b="0" i="0" u="none" strike="noStrike" cap="none" spc="0" baseline="0" dirty="0">
                        <a:solidFill>
                          <a:schemeClr val="dk1"/>
                        </a:solidFill>
                        <a:effectLst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a compiler model that converts natural language instructions into C code using Lex for tokenization, </a:t>
                      </a:r>
                      <a:r>
                        <a:rPr lang="en-US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Yacc</a:t>
                      </a:r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parsing, and Flask for web-based execution.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targets code generation from text; our work focuses on mathematical expression evaluation and real-time GUI integration for improved user interaction.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687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87126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DB4A5-70E2-3108-B073-B80463644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72E456F9-26A3-393D-567F-17990F0F574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9CC25E38-8090-8471-B875-56B06FD3C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</a:t>
            </a:r>
            <a:endParaRPr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DC47C8-7FE1-D032-AC61-9BF8FEB1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084369"/>
              </p:ext>
            </p:extLst>
          </p:nvPr>
        </p:nvGraphicFramePr>
        <p:xfrm>
          <a:off x="774130" y="1810140"/>
          <a:ext cx="7734958" cy="4127528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01968">
                  <a:extLst>
                    <a:ext uri="{9D8B030D-6E8A-4147-A177-3AD203B41FA5}">
                      <a16:colId xmlns:a16="http://schemas.microsoft.com/office/drawing/2014/main" val="3738985348"/>
                    </a:ext>
                  </a:extLst>
                </a:gridCol>
                <a:gridCol w="1896310">
                  <a:extLst>
                    <a:ext uri="{9D8B030D-6E8A-4147-A177-3AD203B41FA5}">
                      <a16:colId xmlns:a16="http://schemas.microsoft.com/office/drawing/2014/main" val="10353676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70879095"/>
                    </a:ext>
                  </a:extLst>
                </a:gridCol>
                <a:gridCol w="1791478">
                  <a:extLst>
                    <a:ext uri="{9D8B030D-6E8A-4147-A177-3AD203B41FA5}">
                      <a16:colId xmlns:a16="http://schemas.microsoft.com/office/drawing/2014/main" val="3979042068"/>
                    </a:ext>
                  </a:extLst>
                </a:gridCol>
                <a:gridCol w="1716402">
                  <a:extLst>
                    <a:ext uri="{9D8B030D-6E8A-4147-A177-3AD203B41FA5}">
                      <a16:colId xmlns:a16="http://schemas.microsoft.com/office/drawing/2014/main" val="314196244"/>
                    </a:ext>
                  </a:extLst>
                </a:gridCol>
              </a:tblGrid>
              <a:tr h="759488"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title of the paper with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from the paper (based on methodology, technology)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problem (for your proposed work)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7501868"/>
                  </a:ext>
                </a:extLst>
              </a:tr>
              <a:tr h="1274576"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fi-FI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Vaikunta Pai T, P. S. Aithal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 Systematic Literature Review of Lexical Analyzer Implementation Techniques in Compiler Design, 2021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various lexical analyzer implementation techniques, highlighting advances in tokenization and parallelization to optimize compiler efficiency and performance.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multi-core optimization;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project focuses on integrating lexical and syntax analysis with a real-time web interface using Flex, Bison, and Flask for instant expression compilation and user interaction.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329870"/>
                  </a:ext>
                </a:extLst>
              </a:tr>
              <a:tr h="1280083"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Mohit Upadhyaya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Simple calculator compiler using Lex and YACC, 2011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how Lex and YACC can be combined to design a simple calculator compiler that tokenizes input and constructs syntax trees for expression evaluation.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arithmetic computation;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project extends this by integrating lexical, syntactic, and semantic analysis to process natural language inputs and evaluate them in real time through a web-based interface.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687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51883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E9D5-3E1E-2FD9-E46D-701CF0E4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34FBF3A8-EDB6-ED03-26E4-500B9261919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18FC98F4-5E70-8C8E-2D51-46653289B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</a:t>
            </a:r>
            <a:endParaRPr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DDA481-32DF-5D10-9C22-25C0F7273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317871"/>
              </p:ext>
            </p:extLst>
          </p:nvPr>
        </p:nvGraphicFramePr>
        <p:xfrm>
          <a:off x="704521" y="1343610"/>
          <a:ext cx="7734958" cy="4798088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01968">
                  <a:extLst>
                    <a:ext uri="{9D8B030D-6E8A-4147-A177-3AD203B41FA5}">
                      <a16:colId xmlns:a16="http://schemas.microsoft.com/office/drawing/2014/main" val="3738985348"/>
                    </a:ext>
                  </a:extLst>
                </a:gridCol>
                <a:gridCol w="1896310">
                  <a:extLst>
                    <a:ext uri="{9D8B030D-6E8A-4147-A177-3AD203B41FA5}">
                      <a16:colId xmlns:a16="http://schemas.microsoft.com/office/drawing/2014/main" val="10353676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70879095"/>
                    </a:ext>
                  </a:extLst>
                </a:gridCol>
                <a:gridCol w="1791478">
                  <a:extLst>
                    <a:ext uri="{9D8B030D-6E8A-4147-A177-3AD203B41FA5}">
                      <a16:colId xmlns:a16="http://schemas.microsoft.com/office/drawing/2014/main" val="3979042068"/>
                    </a:ext>
                  </a:extLst>
                </a:gridCol>
                <a:gridCol w="1716402">
                  <a:extLst>
                    <a:ext uri="{9D8B030D-6E8A-4147-A177-3AD203B41FA5}">
                      <a16:colId xmlns:a16="http://schemas.microsoft.com/office/drawing/2014/main" val="314196244"/>
                    </a:ext>
                  </a:extLst>
                </a:gridCol>
              </a:tblGrid>
              <a:tr h="759488"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title of the paper with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from the paper (based on methodology, technology)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problem (for your proposed work)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7501868"/>
                  </a:ext>
                </a:extLst>
              </a:tr>
              <a:tr h="1274576"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Abhishek B. Sai, Balam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Ruchith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Balaji, Chillakuru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</a:t>
                      </a:r>
                      <a:r>
                        <a:rPr lang="en-IN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Meena </a:t>
                      </a:r>
                      <a:r>
                        <a:rPr lang="en-IN" sz="1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Belwal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 to Python Translator using LEX &amp; YACC, 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translating C programs to equivalent Python code using Lex for lexical analysis and YACC for syntax parsing, preserving logic and structure during translation.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Restricted to cross-language translation; our work advances this by enabling real-time expression evaluation from natural language input, incorporating semantic interpretation and interactive user feedback rather than direct language-to-language conversion.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329870"/>
                  </a:ext>
                </a:extLst>
              </a:tr>
              <a:tr h="1280083"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Bruce Hahne and Hiroyuki Satō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Using </a:t>
                      </a:r>
                      <a:r>
                        <a:rPr lang="en-US" sz="1100" b="0" i="0" u="none" strike="noStrike" cap="none" spc="0" baseline="0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yacc</a:t>
                      </a:r>
                      <a:r>
                        <a:rPr lang="en-US" sz="11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and lex with C++</a:t>
                      </a:r>
                    </a:p>
                    <a:p>
                      <a:pPr algn="just"/>
                      <a:b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100" b="0" i="0" u="none" strike="noStrike" cap="none" spc="0" baseline="0" dirty="0">
                        <a:solidFill>
                          <a:schemeClr val="dk1"/>
                        </a:solidFill>
                        <a:effectLst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integrating Lex and YACC with C++ to construct syntax trees using object-oriented features like classes, constructors, and virtual functions for improved compiler structure and maintainability.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traditional syntax parsing; our work extends this by integrating lexical and syntax analysis within a web-based environment to process and evaluate user-entered arithmetic expressions in real time, enhancing interactivity and execution feedback.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687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52539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ECE36-0C78-29F9-2CD2-4C6FB48A3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20AF36BA-D0E0-AB10-F682-96F422A4EB9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2E10D8B2-8E18-FD5E-227D-71D7CC60D8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176" y="421220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Justification</a:t>
            </a:r>
            <a:endParaRPr dirty="0"/>
          </a:p>
        </p:txBody>
      </p:sp>
      <p:sp>
        <p:nvSpPr>
          <p:cNvPr id="144" name="Introduction…">
            <a:extLst>
              <a:ext uri="{FF2B5EF4-FFF2-40B4-BE49-F238E27FC236}">
                <a16:creationId xmlns:a16="http://schemas.microsoft.com/office/drawing/2014/main" id="{60F8D0EE-0381-E01C-66F9-517621F4300B}"/>
              </a:ext>
            </a:extLst>
          </p:cNvPr>
          <p:cNvSpPr/>
          <p:nvPr/>
        </p:nvSpPr>
        <p:spPr>
          <a:xfrm>
            <a:off x="559837" y="2323321"/>
            <a:ext cx="8050763" cy="2246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just"/>
            <a:r>
              <a:rPr lang="en-US" sz="2000" dirty="0"/>
              <a:t>This project aims to bridge the gap between theoretical concepts of compiler design and their practical implementation. Unlike conventional calculators, it utilizes Lex and </a:t>
            </a:r>
            <a:r>
              <a:rPr lang="en-US" sz="2000" dirty="0" err="1"/>
              <a:t>Yacc</a:t>
            </a:r>
            <a:r>
              <a:rPr lang="en-US" sz="2000" dirty="0"/>
              <a:t> to perform lexical analysis, syntax parsing, and expression evaluation, thereby demonstrating how compilers interpret and execute user input. The addition of a Flask-based web interface enhances accessibility, providing an interactive environment for real-time computation and compiler visualization.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03286396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171" y="381000"/>
            <a:ext cx="7315200" cy="88764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8457" y="1455576"/>
            <a:ext cx="7892143" cy="46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en-US" sz="1800" b="1" dirty="0"/>
              <a:t>Compiler Tools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Lex (Flex): Performs lexical analysis and token generation.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Yacc</a:t>
            </a:r>
            <a:r>
              <a:rPr lang="en-US" sz="1800" dirty="0"/>
              <a:t> (Bison): Defines grammar rules and evaluates expressions.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GCC: Compiles Lex and </a:t>
            </a:r>
            <a:r>
              <a:rPr lang="en-US" sz="1800" dirty="0" err="1"/>
              <a:t>Yacc</a:t>
            </a:r>
            <a:r>
              <a:rPr lang="en-US" sz="1800" dirty="0"/>
              <a:t> outputs into an executable backend.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just"/>
            <a:r>
              <a:rPr lang="en-US" sz="1800" b="1" dirty="0"/>
              <a:t>Programming Languages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C Language: Implements core compiler logic and evaluation.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Python (Flask): Connects frontend input with backend processing.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just"/>
            <a:r>
              <a:rPr lang="en-US" sz="1800" b="1" dirty="0"/>
              <a:t>Web Technologies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HTML, CSS, Bootstrap: Builds an interactive and responsive interface.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Flask Framework: Handles input/output flow between user and compiler.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just"/>
            <a:r>
              <a:rPr lang="en-US" sz="1800" b="1" dirty="0"/>
              <a:t>Environment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Operating System: Linux (Kali / Ubuntu).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Libraries: </a:t>
            </a:r>
            <a:r>
              <a:rPr lang="en-US" sz="1800" dirty="0" err="1"/>
              <a:t>math.h</a:t>
            </a:r>
            <a:r>
              <a:rPr lang="en-US" sz="1800" dirty="0"/>
              <a:t>, </a:t>
            </a:r>
            <a:r>
              <a:rPr lang="en-US" sz="1800" dirty="0" err="1"/>
              <a:t>stdlib.h</a:t>
            </a:r>
            <a:r>
              <a:rPr lang="en-US" sz="1800" dirty="0"/>
              <a:t>, </a:t>
            </a:r>
            <a:r>
              <a:rPr lang="en-US" sz="1800" dirty="0" err="1"/>
              <a:t>string.h</a:t>
            </a:r>
            <a:r>
              <a:rPr lang="en-US" sz="1800" dirty="0"/>
              <a:t>.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652942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10</a:t>
            </a:r>
            <a:endParaRPr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FFD176-CDD6-F84E-9B1C-FFD81400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7C4369-0EA7-FC77-1089-C13C86AA39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478" y="1254968"/>
            <a:ext cx="3363685" cy="504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11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3226600" y="381000"/>
            <a:ext cx="230447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F1FC7-5EFE-83A5-8736-F32A6EC12132}"/>
              </a:ext>
            </a:extLst>
          </p:cNvPr>
          <p:cNvSpPr txBox="1"/>
          <p:nvPr/>
        </p:nvSpPr>
        <p:spPr>
          <a:xfrm>
            <a:off x="671805" y="1287625"/>
            <a:ext cx="7938795" cy="53553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1800" dirty="0"/>
              <a:t>The project follows a modular compiler-based approach, consisting of backend compiler construction and a frontend web interface to achieve accurate computation and real-time interaction.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Backend – Compiler Construction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Lexical Analysis (Flex / </a:t>
            </a:r>
            <a:r>
              <a:rPr lang="en-US" sz="1800" dirty="0" err="1"/>
              <a:t>calc.l</a:t>
            </a:r>
            <a:r>
              <a:rPr lang="en-US" sz="1800" dirty="0"/>
              <a:t>): Scans and identifies tokens such as numbers, operators, functions, and constants for parsing.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Syntax Analysis (Bison / </a:t>
            </a:r>
            <a:r>
              <a:rPr lang="en-US" sz="1800" dirty="0" err="1"/>
              <a:t>calc.y</a:t>
            </a:r>
            <a:r>
              <a:rPr lang="en-US" sz="1800" dirty="0"/>
              <a:t>): Defines grammar rules, operator precedence, and evaluates expressions using semantic actions in 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Compilation &amp; Execution: Generates an executable (</a:t>
            </a:r>
            <a:r>
              <a:rPr lang="en-US" sz="1800" dirty="0" err="1"/>
              <a:t>calc_exec</a:t>
            </a:r>
            <a:r>
              <a:rPr lang="en-US" sz="1800" dirty="0"/>
              <a:t>) using GCC to perform computation and produce output.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just"/>
            <a:r>
              <a:rPr lang="en-US" sz="1800" b="1" dirty="0"/>
              <a:t>Frontend – Web Interface</a:t>
            </a:r>
          </a:p>
          <a:p>
            <a:pPr algn="just"/>
            <a:endParaRPr lang="en-US" sz="18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Developed using Flask, HTML, CSS, and Bootstrap.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Acts as a bridge between the user and compiler backend.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Accepts input expressions, forwards them to the compiler, and dynamically displays the evaluated result</a:t>
            </a: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1317128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37DF2-9678-8387-6114-6DE0F3EE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160A9E45-F592-833A-5325-BF777352B8D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12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974CD3-4633-A5E3-1B86-9497862BEFC7}"/>
              </a:ext>
            </a:extLst>
          </p:cNvPr>
          <p:cNvSpPr txBox="1"/>
          <p:nvPr/>
        </p:nvSpPr>
        <p:spPr>
          <a:xfrm>
            <a:off x="2593414" y="534888"/>
            <a:ext cx="3957172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Implementation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56C13-D8BA-C895-0B38-F035ECDD4F0A}"/>
              </a:ext>
            </a:extLst>
          </p:cNvPr>
          <p:cNvSpPr txBox="1"/>
          <p:nvPr/>
        </p:nvSpPr>
        <p:spPr>
          <a:xfrm>
            <a:off x="601824" y="1660849"/>
            <a:ext cx="7940351" cy="40934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2000" dirty="0"/>
              <a:t>The project is implemented through four primary components: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calc.l</a:t>
            </a:r>
            <a:r>
              <a:rPr lang="en-US" sz="2000" dirty="0"/>
              <a:t> (Lexer): Defines token patterns for numbers, operators, functions, and constants using Flex.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calc.y</a:t>
            </a:r>
            <a:r>
              <a:rPr lang="en-US" sz="2000" dirty="0"/>
              <a:t> (Parser): Specifies grammar rules and evaluation logic using Bison, with semantic actions in 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app.py (Flask App): Handles user input, invokes the compiled backend (</a:t>
            </a:r>
            <a:r>
              <a:rPr lang="en-US" sz="2000" dirty="0" err="1"/>
              <a:t>calc_exec</a:t>
            </a:r>
            <a:r>
              <a:rPr lang="en-US" sz="2000" dirty="0"/>
              <a:t>), and displays results on the webpage.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index.html (Frontend): Provides an interactive interface for entering expressions and viewing output.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Each module performs a distinct role in the overall compiler workflow, ensuring modularity and clarity in design.</a:t>
            </a:r>
          </a:p>
        </p:txBody>
      </p:sp>
    </p:spTree>
    <p:extLst>
      <p:ext uri="{BB962C8B-B14F-4D97-AF65-F5344CB8AC3E}">
        <p14:creationId xmlns:p14="http://schemas.microsoft.com/office/powerpoint/2010/main" val="337582344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13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2781767" y="534888"/>
            <a:ext cx="358046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Testing &amp; 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DFC42-0E16-9BDA-1ECD-A2A46D4D8767}"/>
              </a:ext>
            </a:extLst>
          </p:cNvPr>
          <p:cNvSpPr txBox="1"/>
          <p:nvPr/>
        </p:nvSpPr>
        <p:spPr>
          <a:xfrm>
            <a:off x="522515" y="2043404"/>
            <a:ext cx="8088086" cy="33899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Unit Testing: Verified token recognition, grammar parsing, and arithmetic evaluation.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Integration Testing: Ensured smooth communication between the Flask frontend and the compiler backend.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Functional Testing: Validated trigonometric, logarithmic, and arithmetic function accuracy.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Error Handling: Checked detection of invalid inputs and division by zero.</a:t>
            </a:r>
          </a:p>
        </p:txBody>
      </p:sp>
    </p:spTree>
    <p:extLst>
      <p:ext uri="{BB962C8B-B14F-4D97-AF65-F5344CB8AC3E}">
        <p14:creationId xmlns:p14="http://schemas.microsoft.com/office/powerpoint/2010/main" val="53064197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14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2780119" y="381000"/>
            <a:ext cx="3378487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 and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842BA1-46CD-DE71-85F9-007215FC1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119" y="1179871"/>
            <a:ext cx="3486205" cy="512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6815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5958-11CE-884E-7B52-D7A90453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B183C4CA-BBCD-D0F0-265F-6B593FB4F10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15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E2DB38-D8BD-9B7C-81C5-93EB9AF74E1E}"/>
              </a:ext>
            </a:extLst>
          </p:cNvPr>
          <p:cNvSpPr txBox="1"/>
          <p:nvPr/>
        </p:nvSpPr>
        <p:spPr>
          <a:xfrm>
            <a:off x="3257170" y="396390"/>
            <a:ext cx="253210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76052729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348"/>
            <a:ext cx="8229600" cy="1005206"/>
          </a:xfrm>
        </p:spPr>
        <p:txBody>
          <a:bodyPr/>
          <a:lstStyle/>
          <a:p>
            <a:r>
              <a:rPr lang="en-US" sz="3200" dirty="0">
                <a:latin typeface="Times New Roman"/>
                <a:cs typeface="Times New Roman"/>
              </a:rPr>
              <a:t>Conclusion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EEF53-50A3-6CFA-82BA-ED7D3C485AF9}"/>
              </a:ext>
            </a:extLst>
          </p:cNvPr>
          <p:cNvSpPr txBox="1"/>
          <p:nvPr/>
        </p:nvSpPr>
        <p:spPr>
          <a:xfrm>
            <a:off x="457200" y="1681316"/>
            <a:ext cx="8308258" cy="44012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project successfully demonstrates the integration of compiler design concepts into a functional scientific calculator.</a:t>
            </a:r>
            <a:endParaRPr kumimoji="0" lang="en-IN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Lex is utilized for lexical analysis, and </a:t>
            </a:r>
            <a:r>
              <a:rPr lang="en-US" sz="2000" dirty="0" err="1"/>
              <a:t>Yacc</a:t>
            </a:r>
            <a:r>
              <a:rPr lang="en-US" sz="2000" dirty="0"/>
              <a:t> for syntax parsing, enabling efficient expression processing.</a:t>
            </a:r>
            <a:endParaRPr kumimoji="0" lang="en-US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system accurately evaluates arithmetic, trigonometric, logarithmic, and exponential operations.</a:t>
            </a:r>
            <a:endParaRPr kumimoji="0" lang="en-US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backend compiler ensures reliable computation and precise evaluation of user-defined expressions.</a:t>
            </a:r>
            <a:endParaRPr kumimoji="0" lang="en-US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Flask-based frontend provides a responsive and intuitive interface for real-time interaction.</a:t>
            </a:r>
            <a:endParaRPr kumimoji="0" lang="en-US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project bridges the gap between theoretical compiler construction and practical software implementation.</a:t>
            </a:r>
            <a:endParaRPr kumimoji="0" lang="en-US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It highlights the real-world applicability of system software principles in modern computational tools.</a:t>
            </a:r>
            <a:endParaRPr kumimoji="0" lang="en-IN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774424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957A4-9F55-61B0-08A1-16C325590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779D-D01C-C490-E63E-803D17E39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7348"/>
            <a:ext cx="8229600" cy="1005206"/>
          </a:xfrm>
        </p:spPr>
        <p:txBody>
          <a:bodyPr/>
          <a:lstStyle/>
          <a:p>
            <a:r>
              <a:rPr lang="en-US" sz="3200" dirty="0">
                <a:latin typeface="Times New Roman"/>
                <a:cs typeface="Times New Roman"/>
              </a:rPr>
              <a:t>Future Scope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F9CC2B-5840-07CA-5C66-727CBE21E27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B6537-2D15-5E9C-578B-5C95C5A293F6}"/>
              </a:ext>
            </a:extLst>
          </p:cNvPr>
          <p:cNvSpPr txBox="1"/>
          <p:nvPr/>
        </p:nvSpPr>
        <p:spPr>
          <a:xfrm>
            <a:off x="616598" y="1942112"/>
            <a:ext cx="7910804" cy="378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Incorporate advanced mathematical and statistical functions, such as matrix operations and calculus computations.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Add calculation history and memory storage features for improved usability.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Integrate graphical plotting capabilities to visualize equations and functions.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Enhance the frontend using modern frameworks like React or Angular for better interactivity.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Develop a mobile-compatible version to ensure accessibility across multiple platforms.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Implement user authentication and personalized settings for an enhanced user experience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806926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297348"/>
            <a:ext cx="8229600" cy="1005206"/>
          </a:xfrm>
        </p:spPr>
        <p:txBody>
          <a:bodyPr/>
          <a:lstStyle/>
          <a:p>
            <a:r>
              <a:rPr lang="en-IN" sz="3200" dirty="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9BE3F-1FA1-BB9E-E18C-47F62E83D638}"/>
              </a:ext>
            </a:extLst>
          </p:cNvPr>
          <p:cNvSpPr txBox="1"/>
          <p:nvPr/>
        </p:nvSpPr>
        <p:spPr>
          <a:xfrm>
            <a:off x="609601" y="1667196"/>
            <a:ext cx="8001000" cy="42780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en-IN" sz="1600" dirty="0"/>
              <a:t>[1] Krishna Vignesh, </a:t>
            </a:r>
            <a:r>
              <a:rPr lang="en-IN" sz="1600" dirty="0" err="1"/>
              <a:t>Mudumba</a:t>
            </a:r>
            <a:r>
              <a:rPr lang="en-IN" sz="1600" dirty="0"/>
              <a:t> </a:t>
            </a:r>
            <a:r>
              <a:rPr lang="en-IN" sz="1600" dirty="0" err="1"/>
              <a:t>Hanumat</a:t>
            </a:r>
            <a:r>
              <a:rPr lang="en-IN" sz="1600" dirty="0"/>
              <a:t>, </a:t>
            </a:r>
            <a:r>
              <a:rPr lang="en-IN" sz="1600" dirty="0" err="1"/>
              <a:t>Nallapareddy</a:t>
            </a:r>
            <a:r>
              <a:rPr lang="en-IN" sz="1600" dirty="0"/>
              <a:t> Vamsidhar Reddy, Sake Mohith Sai, and Meena </a:t>
            </a:r>
            <a:r>
              <a:rPr lang="en-IN" sz="1600" dirty="0" err="1"/>
              <a:t>Belwal</a:t>
            </a:r>
            <a:r>
              <a:rPr lang="en-IN" sz="1600" dirty="0"/>
              <a:t>. "</a:t>
            </a:r>
            <a:r>
              <a:rPr lang="en-IN" sz="1600" dirty="0" err="1"/>
              <a:t>ToY</a:t>
            </a:r>
            <a:r>
              <a:rPr lang="en-IN" sz="1600" dirty="0"/>
              <a:t> Language Compiler using Lex and YACC." Sake Mohith and </a:t>
            </a:r>
            <a:r>
              <a:rPr lang="en-IN" sz="1600" dirty="0" err="1"/>
              <a:t>Belwal</a:t>
            </a:r>
            <a:r>
              <a:rPr lang="en-IN" sz="1600" dirty="0"/>
              <a:t>, Meena, </a:t>
            </a:r>
            <a:r>
              <a:rPr lang="en-IN" sz="1600" dirty="0" err="1"/>
              <a:t>ToY</a:t>
            </a:r>
            <a:r>
              <a:rPr lang="en-IN" sz="1600" dirty="0"/>
              <a:t> Language Compiler using Lex and YACC (November 15, 2024) (2024).</a:t>
            </a:r>
          </a:p>
          <a:p>
            <a:pPr algn="just"/>
            <a:r>
              <a:rPr lang="en-IN" sz="1600" dirty="0"/>
              <a:t>[2] Likhith, </a:t>
            </a:r>
            <a:r>
              <a:rPr lang="en-IN" sz="1600" dirty="0" err="1"/>
              <a:t>Arlagadda</a:t>
            </a:r>
            <a:r>
              <a:rPr lang="en-IN" sz="1600" dirty="0"/>
              <a:t> Naga, </a:t>
            </a:r>
            <a:r>
              <a:rPr lang="en-IN" sz="1600" dirty="0" err="1"/>
              <a:t>Kothuru</a:t>
            </a:r>
            <a:r>
              <a:rPr lang="en-IN" sz="1600" dirty="0"/>
              <a:t> </a:t>
            </a:r>
            <a:r>
              <a:rPr lang="en-IN" sz="1600" dirty="0" err="1"/>
              <a:t>Gurunadh</a:t>
            </a:r>
            <a:r>
              <a:rPr lang="en-IN" sz="1600" dirty="0"/>
              <a:t>, Vimal </a:t>
            </a:r>
            <a:r>
              <a:rPr lang="en-IN" sz="1600" dirty="0" err="1"/>
              <a:t>Chinthapalli</a:t>
            </a:r>
            <a:r>
              <a:rPr lang="en-IN" sz="1600" dirty="0"/>
              <a:t>, and Meena </a:t>
            </a:r>
            <a:r>
              <a:rPr lang="en-IN" sz="1600" dirty="0" err="1"/>
              <a:t>Belwal</a:t>
            </a:r>
            <a:r>
              <a:rPr lang="en-IN" sz="1600" dirty="0"/>
              <a:t>. "Compiler for mathematical operations using </a:t>
            </a:r>
            <a:r>
              <a:rPr lang="en-IN" sz="1600" dirty="0" err="1"/>
              <a:t>english</a:t>
            </a:r>
            <a:r>
              <a:rPr lang="en-IN" sz="1600" dirty="0"/>
              <a:t> like sentences." In 2023 7th International Conference on Computation System and Information Technology for Sustainable Solutions (CSITSS), pp. 1-6. IEEE, 2023. </a:t>
            </a:r>
          </a:p>
          <a:p>
            <a:pPr algn="just"/>
            <a:r>
              <a:rPr lang="en-IN" sz="1600" dirty="0"/>
              <a:t>[3] Sharma, Ch Rahul AN, </a:t>
            </a:r>
            <a:r>
              <a:rPr lang="en-IN" sz="1600" dirty="0" err="1"/>
              <a:t>Bedadala</a:t>
            </a:r>
            <a:r>
              <a:rPr lang="en-IN" sz="1600" dirty="0"/>
              <a:t> </a:t>
            </a:r>
            <a:r>
              <a:rPr lang="en-IN" sz="1600" dirty="0" err="1"/>
              <a:t>Mohaneeswar</a:t>
            </a:r>
            <a:r>
              <a:rPr lang="en-IN" sz="1600" dirty="0"/>
              <a:t> Reddy, Dutta </a:t>
            </a:r>
            <a:r>
              <a:rPr lang="en-IN" sz="1600" dirty="0" err="1"/>
              <a:t>Swetchana</a:t>
            </a:r>
            <a:r>
              <a:rPr lang="en-IN" sz="1600" dirty="0"/>
              <a:t>, and Niharika Panda. "Compiler Design for recognizing different Programming Languages." In 2024 15th International Conference on Computing Communication and Networking Technologies (ICCCNT), pp. 1-6. IEEE, 2024.</a:t>
            </a:r>
          </a:p>
          <a:p>
            <a:pPr algn="just"/>
            <a:r>
              <a:rPr lang="en-IN" sz="1600" dirty="0"/>
              <a:t>[4] Mokshit, P., P. Syam Prasad, N. Sumanth Reddy, and Meena </a:t>
            </a:r>
            <a:r>
              <a:rPr lang="en-IN" sz="1600" dirty="0" err="1"/>
              <a:t>Belwal</a:t>
            </a:r>
            <a:r>
              <a:rPr lang="en-IN" sz="1600" dirty="0"/>
              <a:t>. "Pseudocode to Python-A Compiler Approach." In 2024 8th International Conference on Computational System and Information Technology for Sustainable Solutions (CSITSS), pp. 1-5. IEEE, 2024.</a:t>
            </a:r>
          </a:p>
          <a:p>
            <a:pPr algn="just"/>
            <a:r>
              <a:rPr lang="en-IN" sz="1600" dirty="0"/>
              <a:t>[5] </a:t>
            </a:r>
            <a:r>
              <a:rPr lang="en-IN" sz="1600" dirty="0" err="1"/>
              <a:t>Ortin</a:t>
            </a:r>
            <a:r>
              <a:rPr lang="en-IN" sz="1600" dirty="0"/>
              <a:t>, Francisco, Jose Quiroga, Oscar Rodriguez-Prieto, and Miguel Garcia. "An empirical evaluation of Lex/</a:t>
            </a:r>
            <a:r>
              <a:rPr lang="en-IN" sz="1600" dirty="0" err="1"/>
              <a:t>Yacc</a:t>
            </a:r>
            <a:r>
              <a:rPr lang="en-IN" sz="1600" dirty="0"/>
              <a:t> and ANTLR parser generation tools." </a:t>
            </a:r>
            <a:r>
              <a:rPr lang="en-IN" sz="1600" dirty="0" err="1"/>
              <a:t>Plos</a:t>
            </a:r>
            <a:r>
              <a:rPr lang="en-IN" sz="1600" dirty="0"/>
              <a:t> one 17, no. 3 (2022): e0264326.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5809876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6554D-6352-8505-B3B1-C3F3A687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5A52-510C-FBD7-6CAA-5B53534D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297348"/>
            <a:ext cx="8229600" cy="1005206"/>
          </a:xfrm>
        </p:spPr>
        <p:txBody>
          <a:bodyPr/>
          <a:lstStyle/>
          <a:p>
            <a:r>
              <a:rPr lang="en-IN" sz="3200" dirty="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60F225-2260-300C-418F-B3FCA476B5C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1DADC-285D-C479-8191-0B8F4D05FFFC}"/>
              </a:ext>
            </a:extLst>
          </p:cNvPr>
          <p:cNvSpPr txBox="1"/>
          <p:nvPr/>
        </p:nvSpPr>
        <p:spPr>
          <a:xfrm>
            <a:off x="533399" y="2146041"/>
            <a:ext cx="8077202" cy="30469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en-IN" sz="1600" dirty="0"/>
              <a:t>[6] Sridhar, Sashank, and Sowmya </a:t>
            </a:r>
            <a:r>
              <a:rPr lang="en-IN" sz="1600" dirty="0" err="1"/>
              <a:t>Sanagavarapu</a:t>
            </a:r>
            <a:r>
              <a:rPr lang="en-IN" sz="1600" dirty="0"/>
              <a:t>. "A Compiler-based approach for natural language to code conversion." In 2020 3rd International Conference on Computer and Informatics Engineering (IC2IE), pp. 1-6. IEEE, 2020.</a:t>
            </a:r>
          </a:p>
          <a:p>
            <a:pPr algn="just"/>
            <a:r>
              <a:rPr lang="en-IN" sz="1600" dirty="0"/>
              <a:t>[7] Pai T, Vaikunta, and P. S. Aithal. "A systematic literature review of lexical </a:t>
            </a:r>
            <a:r>
              <a:rPr lang="en-IN" sz="1600" dirty="0" err="1"/>
              <a:t>analyzer</a:t>
            </a:r>
            <a:r>
              <a:rPr lang="en-IN" sz="1600" dirty="0"/>
              <a:t> implementation techniques in compiler design." International Journal of Applied Engineering and Management Letters (IJAEML) 4, no. 2 (2020): 285-301.</a:t>
            </a:r>
          </a:p>
          <a:p>
            <a:pPr algn="just"/>
            <a:r>
              <a:rPr lang="en-IN" sz="1600" dirty="0"/>
              <a:t>[8] Upadhyaya, Mohit. "Simple calculator compiler using Lex and YACC." In 2011 3rd International Conference on Electronics Computer Technology, vol. 6, pp. 182-187. IEEE, 2011.</a:t>
            </a:r>
          </a:p>
          <a:p>
            <a:pPr algn="just"/>
            <a:r>
              <a:rPr lang="en-IN" sz="1600" dirty="0"/>
              <a:t>[9] Abhishek, B. Sai, Balam </a:t>
            </a:r>
            <a:r>
              <a:rPr lang="en-IN" sz="1600" dirty="0" err="1"/>
              <a:t>Ruchith</a:t>
            </a:r>
            <a:r>
              <a:rPr lang="en-IN" sz="1600" dirty="0"/>
              <a:t> Balaji, Chillakuru Hari, and Meena </a:t>
            </a:r>
            <a:r>
              <a:rPr lang="en-IN" sz="1600" dirty="0" err="1"/>
              <a:t>Belwal</a:t>
            </a:r>
            <a:r>
              <a:rPr lang="en-IN" sz="1600" dirty="0"/>
              <a:t>. "C to Python Translator using LEX &amp; YACC." Available at SSRN 5077711 (2024).</a:t>
            </a:r>
          </a:p>
          <a:p>
            <a:pPr algn="just"/>
            <a:r>
              <a:rPr lang="en-IN" sz="1600" dirty="0"/>
              <a:t>[10] </a:t>
            </a:r>
            <a:r>
              <a:rPr lang="en-US" sz="1600" dirty="0"/>
              <a:t>Hahne, Bruce, and Hiroyuki Satō. "Using </a:t>
            </a:r>
            <a:r>
              <a:rPr lang="en-US" sz="1600" dirty="0" err="1"/>
              <a:t>yacc</a:t>
            </a:r>
            <a:r>
              <a:rPr lang="en-US" sz="1600" dirty="0"/>
              <a:t> and lex with </a:t>
            </a:r>
            <a:r>
              <a:rPr lang="en-US" sz="1600" dirty="0" err="1"/>
              <a:t>c++</a:t>
            </a:r>
            <a:r>
              <a:rPr lang="en-US" sz="1600" dirty="0"/>
              <a:t>." ACM SIGPLAN Notices 29, no. 12 (1994): 94-103.</a:t>
            </a:r>
          </a:p>
        </p:txBody>
      </p:sp>
    </p:spTree>
    <p:extLst>
      <p:ext uri="{BB962C8B-B14F-4D97-AF65-F5344CB8AC3E}">
        <p14:creationId xmlns:p14="http://schemas.microsoft.com/office/powerpoint/2010/main" val="396489977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20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865E0F-1F95-414F-825F-3F469187C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67380"/>
            <a:ext cx="8229600" cy="1004888"/>
          </a:xfrm>
        </p:spPr>
        <p:txBody>
          <a:bodyPr/>
          <a:lstStyle/>
          <a:p>
            <a:r>
              <a:rPr lang="en-IN" dirty="0"/>
              <a:t>Contribution of the Team Members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F594C4D-0CE3-452D-9B51-9DFBD004B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532647"/>
              </p:ext>
            </p:extLst>
          </p:nvPr>
        </p:nvGraphicFramePr>
        <p:xfrm>
          <a:off x="634481" y="1455576"/>
          <a:ext cx="7976119" cy="4489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53">
                  <a:extLst>
                    <a:ext uri="{9D8B030D-6E8A-4147-A177-3AD203B41FA5}">
                      <a16:colId xmlns:a16="http://schemas.microsoft.com/office/drawing/2014/main" val="296781731"/>
                    </a:ext>
                  </a:extLst>
                </a:gridCol>
                <a:gridCol w="1438805">
                  <a:extLst>
                    <a:ext uri="{9D8B030D-6E8A-4147-A177-3AD203B41FA5}">
                      <a16:colId xmlns:a16="http://schemas.microsoft.com/office/drawing/2014/main" val="237984072"/>
                    </a:ext>
                  </a:extLst>
                </a:gridCol>
                <a:gridCol w="1767943">
                  <a:extLst>
                    <a:ext uri="{9D8B030D-6E8A-4147-A177-3AD203B41FA5}">
                      <a16:colId xmlns:a16="http://schemas.microsoft.com/office/drawing/2014/main" val="1432909017"/>
                    </a:ext>
                  </a:extLst>
                </a:gridCol>
                <a:gridCol w="4129118">
                  <a:extLst>
                    <a:ext uri="{9D8B030D-6E8A-4147-A177-3AD203B41FA5}">
                      <a16:colId xmlns:a16="http://schemas.microsoft.com/office/drawing/2014/main" val="1559074259"/>
                    </a:ext>
                  </a:extLst>
                </a:gridCol>
              </a:tblGrid>
              <a:tr h="496986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500901"/>
                  </a:ext>
                </a:extLst>
              </a:tr>
              <a:tr h="94002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BL.EN.U4CSE</a:t>
                      </a:r>
                      <a:r>
                        <a:rPr lang="en-IN" sz="1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22004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Adhi </a:t>
                      </a:r>
                      <a:r>
                        <a:rPr lang="en-US" sz="1400" b="0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Neeraja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the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lexical analyzer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defining token rules for operators, numbers, and functions.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the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lexer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the parser and contributed to compiler testing and backend execution.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016512"/>
                  </a:ext>
                </a:extLst>
              </a:tr>
              <a:tr h="94002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BL.EN.U4CSE22014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Chimakurthy Mounika Begum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Handled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Flask–compiler integration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linking the web interface with the compiled backend (</a:t>
                      </a:r>
                      <a:r>
                        <a:rPr lang="en-US" sz="14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calc_exec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Ensured correct execution of compiler-generated results and smooth data exchange with the UI.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513963"/>
                  </a:ext>
                </a:extLst>
              </a:tr>
              <a:tr h="115229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BL.EN.U4CSE22030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Kamalapuram</a:t>
                      </a:r>
                      <a:r>
                        <a:rPr lang="en-US" sz="1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Vigneswara</a:t>
                      </a:r>
                      <a:r>
                        <a:rPr lang="en-US" sz="1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Reddy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the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 parser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Bison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defining grammar rules and semantic actions for expression evaluation.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Worked on debugging and ensuring correct operator precedence in the compiler.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61087"/>
                  </a:ext>
                </a:extLst>
              </a:tr>
              <a:tr h="94002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BL.EN.U4CSE22050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Rebbavarapu</a:t>
                      </a:r>
                      <a:r>
                        <a:rPr lang="en-US" sz="1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Henry </a:t>
                      </a:r>
                      <a:r>
                        <a:rPr lang="en-US" sz="1400" b="0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Koushal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the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HTML/CSS user interface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performed extensive compiler output testing.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Validated expressions, error handling, and end-to-end communication between the UI and compiler backend.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986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57707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7989</TotalTime>
  <Words>2475</Words>
  <Application>Microsoft Office PowerPoint</Application>
  <PresentationFormat>On-screen Show (4:3)</PresentationFormat>
  <Paragraphs>238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Times New Roman</vt:lpstr>
      <vt:lpstr>11_Default Design</vt:lpstr>
      <vt:lpstr> Scientific Calculator using Lex and Yacc</vt:lpstr>
      <vt:lpstr>Problem Definition</vt:lpstr>
      <vt:lpstr>Objectives</vt:lpstr>
      <vt:lpstr>Literature Survey</vt:lpstr>
      <vt:lpstr>Literature Survey</vt:lpstr>
      <vt:lpstr>Literature Survey</vt:lpstr>
      <vt:lpstr>Literature Survey</vt:lpstr>
      <vt:lpstr>Justification</vt:lpstr>
      <vt:lpstr>Tools &amp; Technologies</vt:lpstr>
      <vt:lpstr>Work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References</vt:lpstr>
      <vt:lpstr>References</vt:lpstr>
      <vt:lpstr>Contribution of the Team Members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lastModifiedBy>KAMALAPURAM VIGNESWARA REDDY-[BL.EN.U4CSE22030]</cp:lastModifiedBy>
  <cp:revision>172</cp:revision>
  <dcterms:modified xsi:type="dcterms:W3CDTF">2025-11-06T04:28:58Z</dcterms:modified>
</cp:coreProperties>
</file>